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Prediccion de Diagnostico de Cancer</a:t>
            </a:r>
          </a:p>
          <a:p>
            <a:pPr algn="l"/>
            <a:r>
              <a:rPr sz="1400" b="0">
                <a:solidFill>
                  <a:srgbClr val="CCDDFF"/>
                </a:solidFill>
                <a:latin typeface="Calibri"/>
              </a:rPr>
              <a:t>UAX — Inteligencia Artificial | Ingenieria Matematica 2025-2026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E8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430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A6B"/>
                </a:solidFill>
                <a:latin typeface="Calibri"/>
              </a:rPr>
              <a:t>Objetivo del trabajo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08760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44444"/>
                </a:solidFill>
                <a:latin typeface="Calibri"/>
              </a:rPr>
              <a:t>Predecir el diagnostico de cancer (cancer = 1) a partir de
30 variables clinicas, geneticas y bioquimicas
extraidas de Azure SQL, eliminando variables con data leakage.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377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A6B"/>
                </a:solidFill>
                <a:latin typeface="Calibri"/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74320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N total: 50,001 pacientes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cancer = 1 (positivos): 9,644  (19.29%)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cancer = 0 (negativos): 40,357  (80.71%)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Ratio de desbalance: 1 : 4.18  (moderado)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Division train/test: 80 / 20 estratificada (stratify=cancer, seed=42)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Train: 40.000 pacientes  |  Test: 10.001 pacientes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8463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A6B"/>
                </a:solidFill>
                <a:latin typeface="Calibri"/>
              </a:rPr>
              <a:t>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521208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Calibri"/>
              </a:rPr>
              <a:t>Azure SQL  -&gt;  ETL (6 CSV)  -&gt;  Union por paciente_id  -&gt;
Preprocesado (OHE + StandardScaler post-split)  -&gt;  Modelado
38 columnas originales  -&gt;  excluir leakage/constantes  -&gt;  30 features</a:t>
            </a:r>
          </a:p>
        </p:txBody>
      </p:sp>
      <p:pic>
        <p:nvPicPr>
          <p:cNvPr id="11" name="Picture 10" descr="fig01_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143000"/>
            <a:ext cx="5486400" cy="4754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Calibri"/>
              </a:rPr>
              <a:t>UAX — IA Ingeniería Matemática 2025-2026   |   04/05/2026   |   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Datos y Preparacion</a:t>
            </a:r>
          </a:p>
          <a:p>
            <a:pPr algn="l"/>
            <a:r>
              <a:rPr sz="1400" b="0">
                <a:solidFill>
                  <a:srgbClr val="CCDDFF"/>
                </a:solidFill>
                <a:latin typeface="Calibri"/>
              </a:rPr>
              <a:t>6 fuentes Azure  |  union por paciente_id  |  deteccion de leakage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E8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430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6B"/>
                </a:solidFill>
                <a:latin typeface="Calibri"/>
              </a:rPr>
              <a:t>Fuentes de datos (6 CSV de Azure SQL)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508760"/>
          <a:ext cx="5943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Fichero CSV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Filas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Cols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Cobertura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bioquimicos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50001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clinicos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50001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geneticos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50001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economicos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50001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generales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50001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sociodemografico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50001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37033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6B"/>
                </a:solidFill>
                <a:latin typeface="Calibri"/>
              </a:rPr>
              <a:t>Resultado tras union e ingenieria de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069080"/>
            <a:ext cx="5943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38 columnas originales tras el join por paciente_id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Excluidas 6 variables (leakage + constante):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   coste_total (r=0.891), dias_hospital (r=0.878),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   coste_farmaco (r=0.853), num_ingresos (r=0.644),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   vive (r=-0.354, resultado vital), alcohol (constante)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30 features finales para modelado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OHE (drop=first) sobre 6 categoricas  -&gt;  39 columnas modelo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StandardScaler ajustado solo sobre train, aplicado a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143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B"/>
                </a:solidFill>
                <a:latin typeface="Calibri"/>
              </a:rPr>
              <a:t>Correlacion con cancer (variables leakage en rojo)</a:t>
            </a:r>
          </a:p>
        </p:txBody>
      </p:sp>
      <p:pic>
        <p:nvPicPr>
          <p:cNvPr id="10" name="Picture 9" descr="fig07_leakage_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508760"/>
            <a:ext cx="5394960" cy="5029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Calibri"/>
              </a:rPr>
              <a:t>UAX — IA Ingeniería Matemática 2025-2026   |   04/05/2026   |   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Modelos Clasicos — Baseline</a:t>
            </a:r>
          </a:p>
          <a:p>
            <a:pPr algn="l"/>
            <a:r>
              <a:rPr sz="1400" b="0">
                <a:solidFill>
                  <a:srgbClr val="CCDDFF"/>
                </a:solidFill>
                <a:latin typeface="Calibri"/>
              </a:rPr>
              <a:t>Regresion Logistica | Random Forest | XGBoost | HistGradientBoosting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E8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430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6B"/>
                </a:solidFill>
                <a:latin typeface="Calibri"/>
              </a:rPr>
              <a:t>Metricas sobre conjunto de test (threshold = 0.5 por defecto)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508760"/>
          <a:ext cx="75895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4920"/>
                <a:gridCol w="1264920"/>
                <a:gridCol w="1264920"/>
                <a:gridCol w="1264920"/>
                <a:gridCol w="1264920"/>
                <a:gridCol w="126492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AUC-ROC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Regresion Logistica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0.5528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0.8414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0.4349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0.7584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0.7633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0.5535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0.8375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0.4552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0.7061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0.7803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0.5570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0.8447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0.4444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0.7460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0.7711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HistGradientBoosting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0.5564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0.8444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0.4422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0.7501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0.7693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3154680"/>
            <a:ext cx="7589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Calibri"/>
              </a:rPr>
              <a:t>Modelo ganador (maximo F1 en test): XGBoost
  F1 = 0.5570   AUC-ROC = 0.8447
  Los 4 modelos convergen a F1 ≈ 0.55; XGBoost ofrece el mejor equilibrio
  precision/recall sin sobreajuste evidente.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25196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B"/>
                </a:solidFill>
                <a:latin typeface="Calibri"/>
              </a:rPr>
              <a:t>Top features comunes (mayor importancia en los 4 modelos)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61772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fumador, mut_BRCA1, mut_TP53, obesidad, mut_KRAS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tipo_seguro_Privado, actividad_fisica_Baja, glucosa, mut_EGFR</a:t>
            </a:r>
          </a:p>
        </p:txBody>
      </p:sp>
      <p:pic>
        <p:nvPicPr>
          <p:cNvPr id="10" name="Picture 9" descr="classical_ro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143000"/>
            <a:ext cx="3840480" cy="5303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Calibri"/>
              </a:rPr>
              <a:t>UAX — IA Ingeniería Matemática 2025-2026   |   04/05/2026   |   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MLP — Arquitectura, Entrenamiento y Ajuste de Umbral</a:t>
            </a:r>
          </a:p>
          <a:p>
            <a:pPr algn="l"/>
            <a:r>
              <a:rPr sz="1400" b="0">
                <a:solidFill>
                  <a:srgbClr val="CCDDFF"/>
                </a:solidFill>
                <a:latin typeface="Calibri"/>
              </a:rPr>
              <a:t>TensorFlow/Keras  |  class_weight  |  threshold anti-leakage en validacion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E8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43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6B"/>
                </a:solidFill>
                <a:latin typeface="Calibri"/>
              </a:rPr>
              <a:t>Arquitectura de la 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0876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Input dim: 39 (tras OHE drop=first)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Dense(300) -&gt; BatchNorm -&gt; ReLU -&gt; Dropout(0.25)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Dense(100) -&gt; BatchNorm -&gt; ReLU -&gt; Dropout(0.25)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Dense(30)  -&gt; BatchNorm -&gt; ReLU -&gt; Dropout(0.20)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Dense(1, sigmoid)  [salida binaria]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Total parametros: 46,881  (~46.913 objetivo enunciado)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Optimizer: Adam   LR inicial: 0.001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Loss: binary_crossentropy   Batch: 256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Epocas maximas: 100   Epocas ejecutadas: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526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6B"/>
                </a:solidFill>
                <a:latin typeface="Calibri"/>
              </a:rPr>
              <a:t>Callbacks y gestion del desbalance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8920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EarlyStopping: monitor=val_auc, patience=10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ReduceLROnPlateau: patience=5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class_weight = {0: 0.6195, 1: 2.5924}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Kernel initializer: he_normal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143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6B"/>
                </a:solidFill>
                <a:latin typeface="Calibri"/>
              </a:rPr>
              <a:t>Ajuste de umbral (anti-leakage)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5087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Umbral elegido SOLO sobre validacion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Criterio: max F1 en validacion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t* = 0.67   (Youden: 0.555)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F1 val (t*) = 0.5770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Precision val = 0.5506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Recall val    = 0.6060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Test evaluado UNA sola vez (al final)</a:t>
            </a:r>
          </a:p>
        </p:txBody>
      </p:sp>
      <p:pic>
        <p:nvPicPr>
          <p:cNvPr id="11" name="Picture 10" descr="mlp_threshold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3703320"/>
            <a:ext cx="3291840" cy="2834640"/>
          </a:xfrm>
          <a:prstGeom prst="rect">
            <a:avLst/>
          </a:prstGeom>
        </p:spPr>
      </p:pic>
      <p:pic>
        <p:nvPicPr>
          <p:cNvPr id="12" name="Picture 11" descr="mlp_loss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143000"/>
            <a:ext cx="2743200" cy="5486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Calibri"/>
              </a:rPr>
              <a:t>UAX — IA Ingeniería Matemática 2025-2026   |   04/05/2026   |  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Resultados, Comparacion Global y Conclusiones</a:t>
            </a:r>
          </a:p>
          <a:p>
            <a:pPr algn="l"/>
            <a:r>
              <a:rPr sz="1400" b="0">
                <a:solidFill>
                  <a:srgbClr val="CCDDFF"/>
                </a:solidFill>
                <a:latin typeface="Calibri"/>
              </a:rPr>
              <a:t>MLP vs. XGBoost (mejor clasico)  |  viabilidad  |  proximos pasos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E8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4300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6B"/>
                </a:solidFill>
                <a:latin typeface="Calibri"/>
              </a:rPr>
              <a:t>Comparativa final sobre test (threshold optimo en cada caso)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508760"/>
          <a:ext cx="658368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AUC-ROC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Threshold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XGBoost (mejor clasico)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0.5570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0.8447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0.4444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0.7460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MLP (t* = 0.67)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0.5716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0.8383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0.5435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0.6029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274320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6B"/>
                </a:solidFill>
                <a:latin typeface="Calibri"/>
              </a:rPr>
              <a:t>Observaciones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108960"/>
            <a:ext cx="6583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MLP supera a XGBoost en F1 (+0.0146) con umbral optimizado en validacion.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XGBoost lidera en AUC-ROC (0.8447 vs 0.8383):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  mejor discriminacion global de probabilidades.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Elevar el umbral de la MLP (0.5-&gt;0.67) mejora precision (+13pp)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  a costa de reducir recall: adecuado para priorizar positivos confirmados.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Ambos modelos convergen en F1 ~ 0.55-0.57: la tarea es dificil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  (senial intrinsecamente limitada sin variables de leakage).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557784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7B20"/>
                </a:solidFill>
                <a:latin typeface="Calibri"/>
              </a:rPr>
              <a:t>Recomendacion para produccion: MLP con t*=0.67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594360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  <a:latin typeface="Calibri"/>
              </a:rPr>
              <a:t>Mejor F1 en test; umbral seleccionado sin data leakage sobre validacion.</a:t>
            </a:r>
          </a:p>
        </p:txBody>
      </p:sp>
      <p:pic>
        <p:nvPicPr>
          <p:cNvPr id="11" name="Picture 10" descr="final_model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143000"/>
            <a:ext cx="4937760" cy="3474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95160" y="4709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6B"/>
                </a:solidFill>
                <a:latin typeface="Calibri"/>
              </a:rPr>
              <a:t>Proximos pasos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5074920"/>
            <a:ext cx="4937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Validacion externa con cohorte independiente.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Calibracion de probabilidades (isotonic/Platt).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Monitorizacion de deriva en produccion.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Analisis de equidad por subgrupos (edad, zona).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Reevaluar variables economicas si se dispone de</a:t>
            </a:r>
          </a:p>
          <a:p>
            <a:pPr/>
            <a:r>
              <a:rPr sz="1700">
                <a:solidFill>
                  <a:srgbClr val="444444"/>
                </a:solidFill>
                <a:latin typeface="Calibri"/>
              </a:rPr>
              <a:t>    fechas de diagnostico para descartar leakage.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Calibri"/>
              </a:rPr>
              <a:t>UAX — IA Ingeniería Matemática 2025-2026   |   04/05/2026   |   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